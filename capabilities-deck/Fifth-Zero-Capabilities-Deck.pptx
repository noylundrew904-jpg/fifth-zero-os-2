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fifth-zero-os-2/afa94588-cf5a-559d-99bb-33c12b162579/scratchpad/deck/assets/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074920"/>
            <a:ext cx="12191695" cy="1783080"/>
          </a:xfrm>
          <a:prstGeom prst="roundRect">
            <a:avLst/>
          </a:prstGeom>
          <a:solidFill>
            <a:srgbClr val="000000">
              <a:alpha val="7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5230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30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FIFTH &amp; ZERO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0292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BFF6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Creative Intelligence.</a:t>
            </a:r>
            <a:pPr indent="0" marL="0">
              <a:buNone/>
            </a:pPr>
            <a:r>
              <a:rPr lang="en-US" sz="22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 Built to move brands.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63276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CREATIVE · MOTION · FILM · EXPERIENCES · AI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408615" y="3108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26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02920" y="310896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4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347472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7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384048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DBFF6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47472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84048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DBFF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83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FIFTH &amp; ZERO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08615" y="2834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8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SYSTEM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6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WE 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225296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creative direction.</a:t>
            </a:r>
            <a:endParaRPr lang="en-US" sz="27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7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Every screen. Every format.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2697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single idea, art-directed once and engineered to hold its shape everywhere it lands — from a five-second story to a forty-metre stage.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794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5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VISUAL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1239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5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DIGITAL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4453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5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4782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5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51114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5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5440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5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FILM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57698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5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</a:t>
            </a:r>
            <a:endParaRPr lang="en-US" sz="1150" dirty="0"/>
          </a:p>
        </p:txBody>
      </p:sp>
      <p:pic>
        <p:nvPicPr>
          <p:cNvPr id="18" name="Image 0" descr="/tmp/claude-0/-home-user-fifth-zero-os-2/afa94588-cf5a-559d-99bb-33c12b162579/scratchpad/deck/assets/02-ecosystem-we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356985"/>
            <a:ext cx="5882335" cy="45097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47472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84048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DBFF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83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FIFTH &amp; ZERO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08615" y="2834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6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VISUALS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13385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Big idea. Every format.</a:t>
            </a:r>
            <a:endParaRPr lang="en-US" sz="2700" dirty="0"/>
          </a:p>
        </p:txBody>
      </p:sp>
      <p:pic>
        <p:nvPicPr>
          <p:cNvPr id="9" name="Image 0" descr="/tmp/claude-0/-home-user-fifth-zero-os-2/afa94588-cf5a-559d-99bb-33c12b162579/scratchpad/deck/assets/03-kv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35635"/>
            <a:ext cx="2604440" cy="356397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5852160"/>
            <a:ext cx="260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NOCTURNE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6071616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Hero Campaign KV</a:t>
            </a:r>
            <a:endParaRPr lang="en-US" sz="900" dirty="0"/>
          </a:p>
        </p:txBody>
      </p:sp>
      <p:pic>
        <p:nvPicPr>
          <p:cNvPr id="12" name="Image 1" descr="/tmp/claude-0/-home-user-fifth-zero-os-2/afa94588-cf5a-559d-99bb-33c12b162579/scratchpad/deck/assets/03-kv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392" y="2035635"/>
            <a:ext cx="2604440" cy="356397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63392" y="5852160"/>
            <a:ext cx="260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AERO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63392" y="6071616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 KV</a:t>
            </a:r>
            <a:endParaRPr lang="en-US" sz="900" dirty="0"/>
          </a:p>
        </p:txBody>
      </p:sp>
      <p:pic>
        <p:nvPicPr>
          <p:cNvPr id="15" name="Image 2" descr="/tmp/claude-0/-home-user-fifth-zero-os-2/afa94588-cf5a-559d-99bb-33c12b162579/scratchpad/deck/assets/03-kv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864" y="2035635"/>
            <a:ext cx="2604440" cy="356397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23864" y="5852160"/>
            <a:ext cx="260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MERIDIAN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223864" y="6071616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Event KV</a:t>
            </a:r>
            <a:endParaRPr lang="en-US" sz="900" dirty="0"/>
          </a:p>
        </p:txBody>
      </p:sp>
      <p:pic>
        <p:nvPicPr>
          <p:cNvPr id="18" name="Image 3" descr="/tmp/claude-0/-home-user-fifth-zero-os-2/afa94588-cf5a-559d-99bb-33c12b162579/scratchpad/deck/assets/03-kv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335" y="2035635"/>
            <a:ext cx="2604440" cy="356397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84335" y="5852160"/>
            <a:ext cx="260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ORBIT CAPITAL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9084335" y="6071616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Corporate KV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50292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6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CONCEPT WORK FOR FICTIONAL BRANDS, NOT PRIOR CLIENT WORK.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47472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84048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DBFF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83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FIFTH &amp; ZERO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08615" y="2834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8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BRAND &amp; CAMPAIGN CREATIVES · 02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6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FLYERS · POSTERS · PRINT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133856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Static when it needs</a:t>
            </a:r>
            <a:endParaRPr lang="en-US" sz="27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7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to stop you.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Event flyer — MERIDIAN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64261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Promotional poster — AFTERGLOW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95351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Corporate comms — ORBIT CAPITAL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2644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Launch artwork — AERO 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57530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Invitation — NOCTURNE</a:t>
            </a:r>
            <a:endParaRPr lang="en-US" sz="1150" dirty="0"/>
          </a:p>
        </p:txBody>
      </p:sp>
      <p:pic>
        <p:nvPicPr>
          <p:cNvPr id="15" name="Image 0" descr="/tmp/claude-0/-home-user-fifth-zero-os-2/afa94588-cf5a-559d-99bb-33c12b162579/scratchpad/deck/assets/04-print-sal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234" y="3977640"/>
            <a:ext cx="9923228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47472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84048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DBFF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83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FIFTH &amp; ZERO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08615" y="2834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8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BRAND &amp; CAMPAIGN CREATIVES · 03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6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BANNERS &amp; LARGE FORMAT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133856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Built for every screen</a:t>
            </a:r>
            <a:endParaRPr lang="en-US" sz="27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7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 the room.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Event banners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154680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Venue branding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6883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Backdrops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54680" y="26883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Hoardings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2999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Standee systems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154680" y="2999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Directional signage</a:t>
            </a:r>
            <a:endParaRPr lang="en-US" sz="1150" dirty="0"/>
          </a:p>
        </p:txBody>
      </p:sp>
      <p:pic>
        <p:nvPicPr>
          <p:cNvPr id="16" name="Image 0" descr="/tmp/claude-0/-home-user-fifth-zero-os-2/afa94588-cf5a-559d-99bb-33c12b162579/scratchpad/deck/assets/05-banner-sce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597788"/>
            <a:ext cx="11185855" cy="26799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47472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84048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DBFF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83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FIFTH &amp; ZERO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08615" y="2834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8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EVENT CREATIVE ECOSYSTEM · 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6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EVENT VISUAL IDENTITY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133856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From KV to curtain call.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MERIDIAN — an annual industry summit — built once as a visual language, then carried across every surface an attendee will stand in front of.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8803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6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KV</a:t>
            </a:r>
            <a:pPr indent="0" marL="0">
              <a:buNone/>
            </a:pPr>
            <a:r>
              <a:rPr lang="en-US" sz="1150" spc="6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→  STAGE  →  SCREENS  →  SIGNAGE  →  DIGITAL  →  PRINT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3832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 touchpoint below reads at a glance as the same event — same mark, same grid, same restraint.</a:t>
            </a:r>
            <a:endParaRPr lang="en-US" sz="1250" dirty="0"/>
          </a:p>
        </p:txBody>
      </p:sp>
      <p:pic>
        <p:nvPicPr>
          <p:cNvPr id="13" name="Image 0" descr="/tmp/claude-0/-home-user-fifth-zero-os-2/afa94588-cf5a-559d-99bb-33c12b162579/scratchpad/deck/assets/06-ecosystem-web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356985"/>
            <a:ext cx="5882335" cy="45097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fifth-zero-os-2/afa94588-cf5a-559d-99bb-33c12b162579/scratchpad/deck/assets/07-stage-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10896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4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8640" y="347472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7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384048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DBFF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" y="283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FIFTH &amp; ZERO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408615" y="2834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26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02920" y="5349240"/>
            <a:ext cx="5852160" cy="1051560"/>
          </a:xfrm>
          <a:prstGeom prst="roundRect">
            <a:avLst>
              <a:gd name="adj" fmla="val 4348"/>
            </a:avLst>
          </a:prstGeom>
          <a:solidFill>
            <a:srgbClr val="000000">
              <a:alpha val="88000"/>
            </a:srgbClr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2376" y="54864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MERIDIAN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22376" y="57332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Main Stage LED Content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22376" y="616305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6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CENTRAL LED · SIDE SCREENS · TRUSS GRAPHICS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47472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84048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DBFF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83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FIFTH &amp; ZERO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08615" y="2834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8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EVENT CREATIVE ECOSYSTEM · 03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6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LED SCREEN CONTENT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1338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system. Every state on screen.</a:t>
            </a:r>
            <a:endParaRPr lang="en-US" sz="2400" dirty="0"/>
          </a:p>
        </p:txBody>
      </p:sp>
      <p:pic>
        <p:nvPicPr>
          <p:cNvPr id="10" name="Image 0" descr="/tmp/claude-0/-home-user-fifth-zero-os-2/afa94588-cf5a-559d-99bb-33c12b162579/scratchpad/deck/assets/08-til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74520"/>
            <a:ext cx="2618156" cy="1481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3410712"/>
            <a:ext cx="26181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Welcome</a:t>
            </a:r>
            <a:endParaRPr lang="en-US" sz="950" dirty="0"/>
          </a:p>
        </p:txBody>
      </p:sp>
      <p:pic>
        <p:nvPicPr>
          <p:cNvPr id="12" name="Image 1" descr="/tmp/claude-0/-home-user-fifth-zero-os-2/afa94588-cf5a-559d-99bb-33c12b162579/scratchpad/deck/assets/08-tile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8820" y="1874520"/>
            <a:ext cx="2618156" cy="1481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58820" y="3410712"/>
            <a:ext cx="26181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Speaker Intro</a:t>
            </a:r>
            <a:endParaRPr lang="en-US" sz="950" dirty="0"/>
          </a:p>
        </p:txBody>
      </p:sp>
      <p:pic>
        <p:nvPicPr>
          <p:cNvPr id="14" name="Image 2" descr="/tmp/claude-0/-home-user-fifth-zero-os-2/afa94588-cf5a-559d-99bb-33c12b162579/scratchpad/deck/assets/08-tile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720" y="1874520"/>
            <a:ext cx="2618156" cy="14813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14720" y="3410712"/>
            <a:ext cx="26181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Agenda</a:t>
            </a:r>
            <a:endParaRPr lang="en-US" sz="950" dirty="0"/>
          </a:p>
        </p:txBody>
      </p:sp>
      <p:pic>
        <p:nvPicPr>
          <p:cNvPr id="16" name="Image 3" descr="/tmp/claude-0/-home-user-fifth-zero-os-2/afa94588-cf5a-559d-99bb-33c12b162579/scratchpad/deck/assets/08-tile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619" y="1874520"/>
            <a:ext cx="2618156" cy="14813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70619" y="3410712"/>
            <a:ext cx="26181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Title</a:t>
            </a:r>
            <a:endParaRPr lang="en-US" sz="950" dirty="0"/>
          </a:p>
        </p:txBody>
      </p:sp>
      <p:pic>
        <p:nvPicPr>
          <p:cNvPr id="18" name="Image 4" descr="/tmp/claude-0/-home-user-fifth-zero-os-2/afa94588-cf5a-559d-99bb-33c12b162579/scratchpad/deck/assets/08-tile-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13048"/>
            <a:ext cx="2618156" cy="148132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2920" y="5349240"/>
            <a:ext cx="26181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Transition</a:t>
            </a:r>
            <a:endParaRPr lang="en-US" sz="950" dirty="0"/>
          </a:p>
        </p:txBody>
      </p:sp>
      <p:pic>
        <p:nvPicPr>
          <p:cNvPr id="20" name="Image 5" descr="/tmp/claude-0/-home-user-fifth-zero-os-2/afa94588-cf5a-559d-99bb-33c12b162579/scratchpad/deck/assets/08-tile-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8820" y="3813048"/>
            <a:ext cx="2618156" cy="148132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358820" y="5349240"/>
            <a:ext cx="26181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Sponsor</a:t>
            </a:r>
            <a:endParaRPr lang="en-US" sz="950" dirty="0"/>
          </a:p>
        </p:txBody>
      </p:sp>
      <p:pic>
        <p:nvPicPr>
          <p:cNvPr id="22" name="Image 6" descr="/tmp/claude-0/-home-user-fifth-zero-os-2/afa94588-cf5a-559d-99bb-33c12b162579/scratchpad/deck/assets/08-tile-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4720" y="3813048"/>
            <a:ext cx="2618156" cy="148132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214720" y="5349240"/>
            <a:ext cx="26181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Holding</a:t>
            </a:r>
            <a:endParaRPr lang="en-US" sz="950" dirty="0"/>
          </a:p>
        </p:txBody>
      </p:sp>
      <p:pic>
        <p:nvPicPr>
          <p:cNvPr id="24" name="Image 7" descr="/tmp/claude-0/-home-user-fifth-zero-os-2/afa94588-cf5a-559d-99bb-33c12b162579/scratchpad/deck/assets/08-tile-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0619" y="3813048"/>
            <a:ext cx="2618156" cy="148132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9070619" y="5349240"/>
            <a:ext cx="26181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Closing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fifth-zero-os-2/afa94588-cf5a-559d-99bb-33c12b162579/scratchpad/deck/assets/09-tun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10896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4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8640" y="347472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7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384048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DBFF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" y="283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FIFTH &amp; ZERO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408615" y="2834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26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568135" y="5257800"/>
            <a:ext cx="5120640" cy="1143000"/>
          </a:xfrm>
          <a:prstGeom prst="roundRect">
            <a:avLst>
              <a:gd name="adj" fmla="val 4000"/>
            </a:avLst>
          </a:prstGeom>
          <a:solidFill>
            <a:srgbClr val="000000">
              <a:alpha val="88000"/>
            </a:srgbClr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96735" y="53766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6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WALK-THROUGH · TUNNEL SCREENS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796735" y="56509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KV becomes a place you walk through.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fifth-zero-os-2/afa94588-cf5a-559d-99bb-33c12b162579/scratchpad/deck/assets/10-cei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10896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4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8640" y="347472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7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384048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DBFF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" y="283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FIFTH &amp; ZERO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408615" y="2834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26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02920" y="5257800"/>
            <a:ext cx="5303520" cy="1143000"/>
          </a:xfrm>
          <a:prstGeom prst="roundRect">
            <a:avLst>
              <a:gd name="adj" fmla="val 4000"/>
            </a:avLst>
          </a:prstGeom>
          <a:solidFill>
            <a:srgbClr val="000000">
              <a:alpha val="88000"/>
            </a:srgbClr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4088" y="5376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6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SKYLIGHT · CEILING SCREENS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04088" y="565099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brand extends into the architecture.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47472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84048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DBFF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83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FIFTH &amp; ZERO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08615" y="2834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8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EVENT CREATIVE ECOSYSTEM · 06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6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MULTI-SCREEN EXPERIENCES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13385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story. Any canvas.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Panoramic LED, vertical drops, pillar wraps, digital walls — the same content system re-cut intelligently for whatever aspect ratio the venue gives us.</a:t>
            </a:r>
            <a:endParaRPr lang="en-US" sz="1200" dirty="0"/>
          </a:p>
        </p:txBody>
      </p:sp>
      <p:pic>
        <p:nvPicPr>
          <p:cNvPr id="11" name="Image 0" descr="/tmp/claude-0/-home-user-fifth-zero-os-2/afa94588-cf5a-559d-99bb-33c12b162579/scratchpad/deck/assets/11-multi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3464" y="2514600"/>
            <a:ext cx="6144768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47472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84048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DBFF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83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FIFTH &amp; ZERO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08615" y="2834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8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MOTION + VIDEO · 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6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MOTION GRAPHICS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13385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Static, evolved.</a:t>
            </a:r>
            <a:endParaRPr lang="en-US" sz="2700" dirty="0"/>
          </a:p>
        </p:txBody>
      </p:sp>
      <p:pic>
        <p:nvPicPr>
          <p:cNvPr id="10" name="Image 0" descr="/tmp/claude-0/-home-user-fifth-zero-os-2/afa94588-cf5a-559d-99bb-33c12b162579/scratchpad/deck/assets/12-til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88920"/>
            <a:ext cx="1696669" cy="20229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4875880"/>
            <a:ext cx="17881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Type Animation</a:t>
            </a:r>
            <a:endParaRPr lang="en-US" sz="850" dirty="0"/>
          </a:p>
        </p:txBody>
      </p:sp>
      <p:pic>
        <p:nvPicPr>
          <p:cNvPr id="12" name="Image 1" descr="/tmp/claude-0/-home-user-fifth-zero-os-2/afa94588-cf5a-559d-99bb-33c12b162579/scratchpad/deck/assets/12-tile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757" y="2788920"/>
            <a:ext cx="1696669" cy="20229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55037" y="4875880"/>
            <a:ext cx="17881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Logo Animation</a:t>
            </a:r>
            <a:endParaRPr lang="en-US" sz="850" dirty="0"/>
          </a:p>
        </p:txBody>
      </p:sp>
      <p:pic>
        <p:nvPicPr>
          <p:cNvPr id="14" name="Image 2" descr="/tmp/claude-0/-home-user-fifth-zero-os-2/afa94588-cf5a-559d-99bb-33c12b162579/scratchpad/deck/assets/12-tile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594" y="2788920"/>
            <a:ext cx="1696669" cy="20229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52874" y="4875880"/>
            <a:ext cx="17881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Transitions</a:t>
            </a:r>
            <a:endParaRPr lang="en-US" sz="850" dirty="0"/>
          </a:p>
        </p:txBody>
      </p:sp>
      <p:pic>
        <p:nvPicPr>
          <p:cNvPr id="16" name="Image 3" descr="/tmp/claude-0/-home-user-fifth-zero-os-2/afa94588-cf5a-559d-99bb-33c12b162579/scratchpad/deck/assets/12-tile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432" y="2788920"/>
            <a:ext cx="1696669" cy="202295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50712" y="4875880"/>
            <a:ext cx="17881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 Animation</a:t>
            </a:r>
            <a:endParaRPr lang="en-US" sz="850" dirty="0"/>
          </a:p>
        </p:txBody>
      </p:sp>
      <p:pic>
        <p:nvPicPr>
          <p:cNvPr id="18" name="Image 4" descr="/tmp/claude-0/-home-user-fifth-zero-os-2/afa94588-cf5a-559d-99bb-33c12b162579/scratchpad/deck/assets/12-tile-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4269" y="2788920"/>
            <a:ext cx="1696669" cy="202295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048549" y="4875880"/>
            <a:ext cx="17881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Event Motion</a:t>
            </a:r>
            <a:endParaRPr lang="en-US" sz="850" dirty="0"/>
          </a:p>
        </p:txBody>
      </p:sp>
      <p:pic>
        <p:nvPicPr>
          <p:cNvPr id="20" name="Image 5" descr="/tmp/claude-0/-home-user-fifth-zero-os-2/afa94588-cf5a-559d-99bb-33c12b162579/scratchpad/deck/assets/12-tile-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2106" y="2788920"/>
            <a:ext cx="1696669" cy="202295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946386" y="4875880"/>
            <a:ext cx="17881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Brand Film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47472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84048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DBFF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83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FIFTH &amp; ZERO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08615" y="2834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8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MOTION + VIDEO · 02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6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EVENT TEASER FILMS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133856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From first tease</a:t>
            </a:r>
            <a:endParaRPr lang="en-US" sz="2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6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to final frame.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five-beat teaser campaign for MERIDIAN, built to run identically across social and the venue's own screens.</a:t>
            </a:r>
            <a:endParaRPr lang="en-US" sz="1150" dirty="0"/>
          </a:p>
        </p:txBody>
      </p:sp>
      <p:pic>
        <p:nvPicPr>
          <p:cNvPr id="11" name="Image 0" descr="/tmp/claude-0/-home-user-fifth-zero-os-2/afa94588-cf5a-559d-99bb-33c12b162579/scratchpad/deck/assets/13-til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3291840"/>
            <a:ext cx="1176467" cy="14705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38344" y="4835576"/>
            <a:ext cx="12496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SOMETHING</a:t>
            </a:r>
            <a:endParaRPr lang="en-US" sz="78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 COMING</a:t>
            </a:r>
            <a:endParaRPr lang="en-US" sz="780" dirty="0"/>
          </a:p>
        </p:txBody>
      </p:sp>
      <p:pic>
        <p:nvPicPr>
          <p:cNvPr id="13" name="Image 1" descr="/tmp/claude-0/-home-user-fifth-zero-os-2/afa94588-cf5a-559d-99bb-33c12b162579/scratchpad/deck/assets/13-tile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267" y="3291840"/>
            <a:ext cx="1176467" cy="14705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97691" y="4835576"/>
            <a:ext cx="12496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72 HOURS</a:t>
            </a:r>
            <a:endParaRPr lang="en-US" sz="780" dirty="0"/>
          </a:p>
        </p:txBody>
      </p:sp>
      <p:pic>
        <p:nvPicPr>
          <p:cNvPr id="15" name="Image 2" descr="/tmp/claude-0/-home-user-fifth-zero-os-2/afa94588-cf5a-559d-99bb-33c12b162579/scratchpad/deck/assets/13-tile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614" y="3291840"/>
            <a:ext cx="1176467" cy="14705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57038" y="4835576"/>
            <a:ext cx="12496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48 HOURS</a:t>
            </a:r>
            <a:endParaRPr lang="en-US" sz="78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 GO</a:t>
            </a:r>
            <a:endParaRPr lang="en-US" sz="780" dirty="0"/>
          </a:p>
        </p:txBody>
      </p:sp>
      <p:pic>
        <p:nvPicPr>
          <p:cNvPr id="17" name="Image 3" descr="/tmp/claude-0/-home-user-fifth-zero-os-2/afa94588-cf5a-559d-99bb-33c12b162579/scratchpad/deck/assets/13-tile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2961" y="3291840"/>
            <a:ext cx="1176467" cy="14705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16385" y="4835576"/>
            <a:ext cx="12496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NEXT</a:t>
            </a:r>
            <a:endParaRPr lang="en-US" sz="78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CHAPTER BEGINS</a:t>
            </a:r>
            <a:endParaRPr lang="en-US" sz="780" dirty="0"/>
          </a:p>
        </p:txBody>
      </p:sp>
      <p:pic>
        <p:nvPicPr>
          <p:cNvPr id="19" name="Image 4" descr="/tmp/claude-0/-home-user-fifth-zero-os-2/afa94588-cf5a-559d-99bb-33c12b162579/scratchpad/deck/assets/13-tile-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2308" y="3291840"/>
            <a:ext cx="1176467" cy="147058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475732" y="4835576"/>
            <a:ext cx="12496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SEE YOU</a:t>
            </a:r>
            <a:endParaRPr lang="en-US" sz="78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AT MERIDIAN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47472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84048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DBFF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83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FIFTH &amp; ZERO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08615" y="2834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8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MOTION + VIDEO · 03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6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COUNTDOWN FILMS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133856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Motion when it needs</a:t>
            </a:r>
            <a:endParaRPr lang="en-US" sz="2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6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to move you.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One connected countdown, five drops, built once and scheduled to run across social and every screen in the building.</a:t>
            </a:r>
            <a:endParaRPr lang="en-US" sz="1150" dirty="0"/>
          </a:p>
        </p:txBody>
      </p:sp>
      <p:pic>
        <p:nvPicPr>
          <p:cNvPr id="11" name="Image 0" descr="/tmp/claude-0/-home-user-fifth-zero-os-2/afa94588-cf5a-559d-99bb-33c12b162579/scratchpad/deck/assets/14-til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3291840"/>
            <a:ext cx="1176467" cy="14705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38344" y="4835576"/>
            <a:ext cx="1249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DAYS</a:t>
            </a:r>
            <a:endParaRPr lang="en-US" sz="950" dirty="0"/>
          </a:p>
        </p:txBody>
      </p:sp>
      <p:pic>
        <p:nvPicPr>
          <p:cNvPr id="13" name="Image 1" descr="/tmp/claude-0/-home-user-fifth-zero-os-2/afa94588-cf5a-559d-99bb-33c12b162579/scratchpad/deck/assets/14-tile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267" y="3291840"/>
            <a:ext cx="1176467" cy="14705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97691" y="4835576"/>
            <a:ext cx="1249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DAYS</a:t>
            </a:r>
            <a:endParaRPr lang="en-US" sz="950" dirty="0"/>
          </a:p>
        </p:txBody>
      </p:sp>
      <p:pic>
        <p:nvPicPr>
          <p:cNvPr id="15" name="Image 2" descr="/tmp/claude-0/-home-user-fifth-zero-os-2/afa94588-cf5a-559d-99bb-33c12b162579/scratchpad/deck/assets/14-tile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614" y="3291840"/>
            <a:ext cx="1176467" cy="14705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57038" y="4835576"/>
            <a:ext cx="1249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HOURS</a:t>
            </a:r>
            <a:endParaRPr lang="en-US" sz="950" dirty="0"/>
          </a:p>
        </p:txBody>
      </p:sp>
      <p:pic>
        <p:nvPicPr>
          <p:cNvPr id="17" name="Image 3" descr="/tmp/claude-0/-home-user-fifth-zero-os-2/afa94588-cf5a-559d-99bb-33c12b162579/scratchpad/deck/assets/14-tile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2961" y="3291840"/>
            <a:ext cx="1176467" cy="14705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16385" y="4835576"/>
            <a:ext cx="1249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TONIGHT</a:t>
            </a:r>
            <a:endParaRPr lang="en-US" sz="950" dirty="0"/>
          </a:p>
        </p:txBody>
      </p:sp>
      <p:pic>
        <p:nvPicPr>
          <p:cNvPr id="19" name="Image 4" descr="/tmp/claude-0/-home-user-fifth-zero-os-2/afa94588-cf5a-559d-99bb-33c12b162579/scratchpad/deck/assets/14-tile-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2308" y="3291840"/>
            <a:ext cx="1176467" cy="147058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475732" y="4835576"/>
            <a:ext cx="1249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WE'RE LIVE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47472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84048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DBFF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83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FIFTH &amp; ZERO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08615" y="2834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8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MOTION + VIDEO · 04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6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EVENT OPENING FILMS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133856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Brand storytelling,</a:t>
            </a:r>
            <a:endParaRPr lang="en-US" sz="2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4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built to a reveal.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Tension, build, reveal — the final frame flows straight into the physical main-stage LED, so the film and the room feel like one continuous shot.</a:t>
            </a:r>
            <a:endParaRPr lang="en-US" sz="1100" dirty="0"/>
          </a:p>
        </p:txBody>
      </p:sp>
      <p:pic>
        <p:nvPicPr>
          <p:cNvPr id="11" name="Image 0" descr="/tmp/claude-0/-home-user-fifth-zero-os-2/afa94588-cf5a-559d-99bb-33c12b162579/scratchpad/deck/assets/15-til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3337560"/>
            <a:ext cx="1010869" cy="130570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855464" y="4707274"/>
            <a:ext cx="108402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BLACK</a:t>
            </a:r>
            <a:endParaRPr lang="en-US" sz="750" dirty="0"/>
          </a:p>
        </p:txBody>
      </p:sp>
      <p:pic>
        <p:nvPicPr>
          <p:cNvPr id="13" name="Image 1" descr="/tmp/claude-0/-home-user-fifth-zero-os-2/afa94588-cf5a-559d-99bb-33c12b162579/scratchpad/deck/assets/15-tile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213" y="3337560"/>
            <a:ext cx="1010869" cy="130570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12637" y="4707274"/>
            <a:ext cx="108402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SIGNAL</a:t>
            </a:r>
            <a:endParaRPr lang="en-US" sz="750" dirty="0"/>
          </a:p>
        </p:txBody>
      </p:sp>
      <p:pic>
        <p:nvPicPr>
          <p:cNvPr id="15" name="Image 2" descr="/tmp/claude-0/-home-user-fifth-zero-os-2/afa94588-cf5a-559d-99bb-33c12b162579/scratchpad/deck/assets/15-tile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6386" y="3337560"/>
            <a:ext cx="1010869" cy="13057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69810" y="4707274"/>
            <a:ext cx="108402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WORLD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RESPONDS</a:t>
            </a:r>
            <a:endParaRPr lang="en-US" sz="750" dirty="0"/>
          </a:p>
        </p:txBody>
      </p:sp>
      <p:pic>
        <p:nvPicPr>
          <p:cNvPr id="17" name="Image 3" descr="/tmp/claude-0/-home-user-fifth-zero-os-2/afa94588-cf5a-559d-99bb-33c12b162579/scratchpad/deck/assets/15-tile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3560" y="3337560"/>
            <a:ext cx="1010869" cy="130570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26984" y="4707274"/>
            <a:ext cx="108402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TENSION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BUILDS</a:t>
            </a:r>
            <a:endParaRPr lang="en-US" sz="750" dirty="0"/>
          </a:p>
        </p:txBody>
      </p:sp>
      <p:pic>
        <p:nvPicPr>
          <p:cNvPr id="19" name="Image 4" descr="/tmp/claude-0/-home-user-fifth-zero-os-2/afa94588-cf5a-559d-99bb-33c12b162579/scratchpad/deck/assets/15-tile-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0733" y="3337560"/>
            <a:ext cx="1010869" cy="130570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484157" y="4707274"/>
            <a:ext cx="108402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REVEAL</a:t>
            </a:r>
            <a:endParaRPr lang="en-US" sz="750" dirty="0"/>
          </a:p>
        </p:txBody>
      </p:sp>
      <p:pic>
        <p:nvPicPr>
          <p:cNvPr id="21" name="Image 5" descr="/tmp/claude-0/-home-user-fifth-zero-os-2/afa94588-cf5a-559d-99bb-33c12b162579/scratchpad/deck/assets/15-tile-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7906" y="3337560"/>
            <a:ext cx="1010869" cy="130570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641330" y="4707274"/>
            <a:ext cx="108402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 ON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MAIN STAGE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47472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84048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DBFF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83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FIFTH &amp; ZERO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08615" y="2834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8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MOTION + VIDEO · 05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6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HIGHLIGHT · AFTERMOVIES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133856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Every moment worth keeping, in ninety seconds.</a:t>
            </a:r>
            <a:endParaRPr lang="en-US" sz="2400" dirty="0"/>
          </a:p>
        </p:txBody>
      </p:sp>
      <p:pic>
        <p:nvPicPr>
          <p:cNvPr id="10" name="Image 0" descr="/tmp/claude-0/-home-user-fifth-zero-os-2/afa94588-cf5a-559d-99bb-33c12b162579/scratchpad/deck/assets/16-til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651760"/>
            <a:ext cx="1696669" cy="162597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4360031"/>
            <a:ext cx="17881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Arrival</a:t>
            </a:r>
            <a:endParaRPr lang="en-US" sz="850" dirty="0"/>
          </a:p>
        </p:txBody>
      </p:sp>
      <p:pic>
        <p:nvPicPr>
          <p:cNvPr id="12" name="Image 1" descr="/tmp/claude-0/-home-user-fifth-zero-os-2/afa94588-cf5a-559d-99bb-33c12b162579/scratchpad/deck/assets/16-tile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757" y="2651760"/>
            <a:ext cx="1696669" cy="16259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55037" y="4360031"/>
            <a:ext cx="17881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Crowd</a:t>
            </a:r>
            <a:endParaRPr lang="en-US" sz="850" dirty="0"/>
          </a:p>
        </p:txBody>
      </p:sp>
      <p:pic>
        <p:nvPicPr>
          <p:cNvPr id="14" name="Image 2" descr="/tmp/claude-0/-home-user-fifth-zero-os-2/afa94588-cf5a-559d-99bb-33c12b162579/scratchpad/deck/assets/16-tile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594" y="2651760"/>
            <a:ext cx="1696669" cy="16259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52874" y="4360031"/>
            <a:ext cx="17881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Take the Stage</a:t>
            </a:r>
            <a:endParaRPr lang="en-US" sz="850" dirty="0"/>
          </a:p>
        </p:txBody>
      </p:sp>
      <p:pic>
        <p:nvPicPr>
          <p:cNvPr id="16" name="Image 3" descr="/tmp/claude-0/-home-user-fifth-zero-os-2/afa94588-cf5a-559d-99bb-33c12b162579/scratchpad/deck/assets/16-tile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432" y="2651760"/>
            <a:ext cx="1696669" cy="16259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50712" y="4360031"/>
            <a:ext cx="17881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Performance</a:t>
            </a:r>
            <a:endParaRPr lang="en-US" sz="850" dirty="0"/>
          </a:p>
        </p:txBody>
      </p:sp>
      <p:pic>
        <p:nvPicPr>
          <p:cNvPr id="18" name="Image 4" descr="/tmp/claude-0/-home-user-fifth-zero-os-2/afa94588-cf5a-559d-99bb-33c12b162579/scratchpad/deck/assets/16-tile-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4269" y="2651760"/>
            <a:ext cx="1696669" cy="16259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048549" y="4360031"/>
            <a:ext cx="17881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Brand Moments</a:t>
            </a:r>
            <a:endParaRPr lang="en-US" sz="850" dirty="0"/>
          </a:p>
        </p:txBody>
      </p:sp>
      <p:pic>
        <p:nvPicPr>
          <p:cNvPr id="20" name="Image 5" descr="/tmp/claude-0/-home-user-fifth-zero-os-2/afa94588-cf5a-559d-99bb-33c12b162579/scratchpad/deck/assets/16-tile-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2106" y="2651760"/>
            <a:ext cx="1696669" cy="162597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946386" y="4360031"/>
            <a:ext cx="17881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Finale</a:t>
            </a:r>
            <a:endParaRPr lang="en-US" sz="850" dirty="0"/>
          </a:p>
        </p:txBody>
      </p:sp>
      <p:sp>
        <p:nvSpPr>
          <p:cNvPr id="22" name="Text 14"/>
          <p:cNvSpPr/>
          <p:nvPr/>
        </p:nvSpPr>
        <p:spPr>
          <a:xfrm>
            <a:off x="502920" y="4734935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Energetic, premium, cut to the room's own soundtrack — an aftermovie that gets forwarded, not just archived.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47472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84048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DBFF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83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FIFTH &amp; ZERO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08615" y="2834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 / 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8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MOTION + VIDEO · 06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6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EXPLAINER FILMS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133856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Complicated ideas,</a:t>
            </a:r>
            <a:endParaRPr lang="en-US" sz="2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6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made obvious.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fictional fintech product, AERO PAY, explained end to end — the pipeline stays sophisticated, never cartoonish.</a:t>
            </a:r>
            <a:endParaRPr lang="en-US" sz="1150" dirty="0"/>
          </a:p>
        </p:txBody>
      </p:sp>
      <p:pic>
        <p:nvPicPr>
          <p:cNvPr id="11" name="Image 0" descr="/tmp/claude-0/-home-user-fifth-zero-os-2/afa94588-cf5a-559d-99bb-33c12b162579/scratchpad/deck/assets/17-til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3474720"/>
            <a:ext cx="1176467" cy="105041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38344" y="4598289"/>
            <a:ext cx="1249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SCRIPT</a:t>
            </a:r>
            <a:endParaRPr lang="en-US" sz="850" dirty="0"/>
          </a:p>
        </p:txBody>
      </p:sp>
      <p:pic>
        <p:nvPicPr>
          <p:cNvPr id="13" name="Image 1" descr="/tmp/claude-0/-home-user-fifth-zero-os-2/afa94588-cf5a-559d-99bb-33c12b162579/scratchpad/deck/assets/17-tile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267" y="3474720"/>
            <a:ext cx="1176467" cy="105041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97691" y="4598289"/>
            <a:ext cx="1249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STORYBOARD</a:t>
            </a:r>
            <a:endParaRPr lang="en-US" sz="850" dirty="0"/>
          </a:p>
        </p:txBody>
      </p:sp>
      <p:pic>
        <p:nvPicPr>
          <p:cNvPr id="15" name="Image 2" descr="/tmp/claude-0/-home-user-fifth-zero-os-2/afa94588-cf5a-559d-99bb-33c12b162579/scratchpad/deck/assets/17-tile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614" y="3474720"/>
            <a:ext cx="1176467" cy="105041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57038" y="4598289"/>
            <a:ext cx="1249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DESIGN</a:t>
            </a:r>
            <a:endParaRPr lang="en-US" sz="850" dirty="0"/>
          </a:p>
        </p:txBody>
      </p:sp>
      <p:pic>
        <p:nvPicPr>
          <p:cNvPr id="17" name="Image 3" descr="/tmp/claude-0/-home-user-fifth-zero-os-2/afa94588-cf5a-559d-99bb-33c12b162579/scratchpad/deck/assets/17-tile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2961" y="3474720"/>
            <a:ext cx="1176467" cy="105041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16385" y="4598289"/>
            <a:ext cx="1249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ANIMATION</a:t>
            </a:r>
            <a:endParaRPr lang="en-US" sz="850" dirty="0"/>
          </a:p>
        </p:txBody>
      </p:sp>
      <p:pic>
        <p:nvPicPr>
          <p:cNvPr id="19" name="Image 4" descr="/tmp/claude-0/-home-user-fifth-zero-os-2/afa94588-cf5a-559d-99bb-33c12b162579/scratchpad/deck/assets/17-tile-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2308" y="3474720"/>
            <a:ext cx="1176467" cy="105041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475732" y="4598289"/>
            <a:ext cx="1249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FINAL FRAME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47472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84048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DBFF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83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FIFTH &amp; ZERO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08615" y="2834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/ 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8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MOTION + VIDEO · 07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6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BRAND · STORY FILMS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1338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Every brand has a story worth thirty minutes of ours.</a:t>
            </a:r>
            <a:endParaRPr lang="en-US" sz="2200" dirty="0"/>
          </a:p>
        </p:txBody>
      </p:sp>
      <p:pic>
        <p:nvPicPr>
          <p:cNvPr id="10" name="Image 0" descr="/tmp/claude-0/-home-user-fifth-zero-os-2/afa94588-cf5a-559d-99bb-33c12b162579/scratchpad/deck/assets/18-til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606040"/>
            <a:ext cx="1696669" cy="219153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4870723"/>
            <a:ext cx="17881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6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Founder Story</a:t>
            </a:r>
            <a:endParaRPr lang="en-US" sz="76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6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FERRO COFFEE</a:t>
            </a:r>
            <a:endParaRPr lang="en-US" sz="760" dirty="0"/>
          </a:p>
        </p:txBody>
      </p:sp>
      <p:pic>
        <p:nvPicPr>
          <p:cNvPr id="12" name="Image 1" descr="/tmp/claude-0/-home-user-fifth-zero-os-2/afa94588-cf5a-559d-99bb-33c12b162579/scratchpad/deck/assets/18-tile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757" y="2606040"/>
            <a:ext cx="1696669" cy="219153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55037" y="4870723"/>
            <a:ext cx="17881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6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Corporate Film</a:t>
            </a:r>
            <a:endParaRPr lang="en-US" sz="76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6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ORBIT CAPITAL</a:t>
            </a:r>
            <a:endParaRPr lang="en-US" sz="760" dirty="0"/>
          </a:p>
        </p:txBody>
      </p:sp>
      <p:pic>
        <p:nvPicPr>
          <p:cNvPr id="14" name="Image 2" descr="/tmp/claude-0/-home-user-fifth-zero-os-2/afa94588-cf5a-559d-99bb-33c12b162579/scratchpad/deck/assets/18-tile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594" y="2606040"/>
            <a:ext cx="1696669" cy="219153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52874" y="4870723"/>
            <a:ext cx="17881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6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Brand Manifesto</a:t>
            </a:r>
            <a:endParaRPr lang="en-US" sz="76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6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NOCTURNE</a:t>
            </a:r>
            <a:endParaRPr lang="en-US" sz="760" dirty="0"/>
          </a:p>
        </p:txBody>
      </p:sp>
      <p:pic>
        <p:nvPicPr>
          <p:cNvPr id="16" name="Image 3" descr="/tmp/claude-0/-home-user-fifth-zero-os-2/afa94588-cf5a-559d-99bb-33c12b162579/scratchpad/deck/assets/18-tile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432" y="2606040"/>
            <a:ext cx="1696669" cy="219153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50712" y="4870723"/>
            <a:ext cx="17881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6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 Story</a:t>
            </a:r>
            <a:endParaRPr lang="en-US" sz="76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6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AERO</a:t>
            </a:r>
            <a:endParaRPr lang="en-US" sz="760" dirty="0"/>
          </a:p>
        </p:txBody>
      </p:sp>
      <p:pic>
        <p:nvPicPr>
          <p:cNvPr id="18" name="Image 4" descr="/tmp/claude-0/-home-user-fifth-zero-os-2/afa94588-cf5a-559d-99bb-33c12b162579/scratchpad/deck/assets/18-tile-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4269" y="2606040"/>
            <a:ext cx="1696669" cy="219153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048549" y="4870723"/>
            <a:ext cx="17881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6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Human Story</a:t>
            </a:r>
            <a:endParaRPr lang="en-US" sz="760" dirty="0"/>
          </a:p>
        </p:txBody>
      </p:sp>
      <p:pic>
        <p:nvPicPr>
          <p:cNvPr id="20" name="Image 5" descr="/tmp/claude-0/-home-user-fifth-zero-os-2/afa94588-cf5a-559d-99bb-33c12b162579/scratchpad/deck/assets/18-tile-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2106" y="2606040"/>
            <a:ext cx="1696669" cy="2191531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946386" y="4870723"/>
            <a:ext cx="17881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6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Culture Film</a:t>
            </a:r>
            <a:endParaRPr lang="en-US" sz="7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47472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84048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DBFF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83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FIFTH &amp; ZERO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08615" y="2834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 / 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8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MOTION + VIDEO · 08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6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VIDEO EDITING &amp; POST-PRODUCTION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133856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Raw becomes final — six disciplines, one pipeline.</a:t>
            </a:r>
            <a:endParaRPr lang="en-US" sz="2200" dirty="0"/>
          </a:p>
        </p:txBody>
      </p:sp>
      <p:pic>
        <p:nvPicPr>
          <p:cNvPr id="10" name="Image 0" descr="/tmp/claude-0/-home-user-fifth-zero-os-2/afa94588-cf5a-559d-99bb-33c12b162579/scratchpad/deck/assets/19-postpr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0660" y="2331720"/>
            <a:ext cx="7110374" cy="3703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172200"/>
            <a:ext cx="111858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Editing · colour grading · sound design · motion graphics · compositing · cleanup — finished to broadcast and social spec alike.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47472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84048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DBFF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83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FIFTH &amp; ZERO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08615" y="2834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 / 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8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MOTION + VIDEO · 09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6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ANIMATION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13385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Drawn to move.</a:t>
            </a:r>
            <a:endParaRPr lang="en-US" sz="2700" dirty="0"/>
          </a:p>
        </p:txBody>
      </p:sp>
      <p:pic>
        <p:nvPicPr>
          <p:cNvPr id="10" name="Image 0" descr="/tmp/claude-0/-home-user-fifth-zero-os-2/afa94588-cf5a-559d-99bb-33c12b162579/scratchpad/deck/assets/20-til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0"/>
            <a:ext cx="1696669" cy="162597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4908671"/>
            <a:ext cx="17881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2D Animation</a:t>
            </a:r>
            <a:endParaRPr lang="en-US" sz="800" dirty="0"/>
          </a:p>
        </p:txBody>
      </p:sp>
      <p:pic>
        <p:nvPicPr>
          <p:cNvPr id="12" name="Image 1" descr="/tmp/claude-0/-home-user-fifth-zero-os-2/afa94588-cf5a-559d-99bb-33c12b162579/scratchpad/deck/assets/20-tile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757" y="3200400"/>
            <a:ext cx="1696669" cy="16259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55037" y="4908671"/>
            <a:ext cx="17881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Typography</a:t>
            </a:r>
            <a:endParaRPr lang="en-US" sz="800" dirty="0"/>
          </a:p>
        </p:txBody>
      </p:sp>
      <p:pic>
        <p:nvPicPr>
          <p:cNvPr id="14" name="Image 2" descr="/tmp/claude-0/-home-user-fifth-zero-os-2/afa94588-cf5a-559d-99bb-33c12b162579/scratchpad/deck/assets/20-tile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594" y="3200400"/>
            <a:ext cx="1696669" cy="16259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52874" y="4908671"/>
            <a:ext cx="17881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 Animation</a:t>
            </a:r>
            <a:endParaRPr lang="en-US" sz="800" dirty="0"/>
          </a:p>
        </p:txBody>
      </p:sp>
      <p:pic>
        <p:nvPicPr>
          <p:cNvPr id="16" name="Image 3" descr="/tmp/claude-0/-home-user-fifth-zero-os-2/afa94588-cf5a-559d-99bb-33c12b162579/scratchpad/deck/assets/20-tile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432" y="3200400"/>
            <a:ext cx="1696669" cy="16259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50712" y="4908671"/>
            <a:ext cx="17881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Logo Animation</a:t>
            </a:r>
            <a:endParaRPr lang="en-US" sz="800" dirty="0"/>
          </a:p>
        </p:txBody>
      </p:sp>
      <p:pic>
        <p:nvPicPr>
          <p:cNvPr id="18" name="Image 4" descr="/tmp/claude-0/-home-user-fifth-zero-os-2/afa94588-cf5a-559d-99bb-33c12b162579/scratchpad/deck/assets/20-tile-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4269" y="3200400"/>
            <a:ext cx="1696669" cy="16259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048549" y="4908671"/>
            <a:ext cx="17881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UI Animation</a:t>
            </a:r>
            <a:endParaRPr lang="en-US" sz="800" dirty="0"/>
          </a:p>
        </p:txBody>
      </p:sp>
      <p:pic>
        <p:nvPicPr>
          <p:cNvPr id="20" name="Image 5" descr="/tmp/claude-0/-home-user-fifth-zero-os-2/afa94588-cf5a-559d-99bb-33c12b162579/scratchpad/deck/assets/20-tile-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2106" y="3200400"/>
            <a:ext cx="1696669" cy="162597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946386" y="4908671"/>
            <a:ext cx="17881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Event Screens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47472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84048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DBFF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83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FIFTH &amp; ZERO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08615" y="2834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 / 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8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PHOTOGRAPHY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6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PHOTOGRAPHY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13385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Shot to be used, not just admired.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Products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258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Food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5511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Corporate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8437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People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1363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Events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429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Lifestyle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7216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Detail Shots</a:t>
            </a:r>
            <a:endParaRPr lang="en-US" sz="1100" dirty="0"/>
          </a:p>
        </p:txBody>
      </p:sp>
      <p:pic>
        <p:nvPicPr>
          <p:cNvPr id="17" name="Image 0" descr="/tmp/claude-0/-home-user-fifth-zero-os-2/afa94588-cf5a-559d-99bb-33c12b162579/scratchpad/deck/assets/21-contact-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5142" y="1783080"/>
            <a:ext cx="76332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fifth-zero-os-2/afa94588-cf5a-559d-99bb-33c12b162579/scratchpad/deck/assets/22-ai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10896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4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8640" y="347472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7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384048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DBFF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" y="283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FIFTH &amp; ZERO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408615" y="2834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/ 26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02920" y="4937760"/>
            <a:ext cx="6949440" cy="1325880"/>
          </a:xfrm>
          <a:prstGeom prst="roundRect">
            <a:avLst>
              <a:gd name="adj" fmla="val 3448"/>
            </a:avLst>
          </a:prstGeom>
          <a:solidFill>
            <a:srgbClr val="000000">
              <a:alpha val="88000"/>
            </a:srgbClr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2376" y="50749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6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AI-GENERATED CONTENT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22376" y="5321808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Imagination without</a:t>
            </a:r>
            <a:endParaRPr lang="en-US" sz="1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production limits.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22376" y="603504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6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IMPOSSIBLE LOCATIONS · VIRTUAL SETS · HYPER-REAL PRODUCT WORLDS.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47472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84048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DBFF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83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FIFTH &amp; ZERO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08615" y="2834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 / 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8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CREATIVE STUDIO · 02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6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VIDEO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133856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Cinematic visuals,</a:t>
            </a:r>
            <a:endParaRPr lang="en-US" sz="2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5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without the shoot.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storyboard from an AI-generated commercial for AERO — full cinematic craft without a traditional-scale production.</a:t>
            </a:r>
            <a:endParaRPr lang="en-US" sz="1150" dirty="0"/>
          </a:p>
        </p:txBody>
      </p:sp>
      <p:pic>
        <p:nvPicPr>
          <p:cNvPr id="11" name="Image 0" descr="/tmp/claude-0/-home-user-fifth-zero-os-2/afa94588-cf5a-559d-99bb-33c12b162579/scratchpad/deck/assets/23-til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3383280"/>
            <a:ext cx="1507160" cy="18839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855464" y="5340382"/>
            <a:ext cx="158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CONCEPT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417488" y="421552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200" dirty="0"/>
          </a:p>
        </p:txBody>
      </p:sp>
      <p:pic>
        <p:nvPicPr>
          <p:cNvPr id="14" name="Image 1" descr="/tmp/claude-0/-home-user-fifth-zero-os-2/afa94588-cf5a-559d-99bb-33c12b162579/scratchpad/deck/assets/23-tile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232" y="3383280"/>
            <a:ext cx="1507160" cy="18839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618656" y="5340382"/>
            <a:ext cx="158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8180680" y="421552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200" dirty="0"/>
          </a:p>
        </p:txBody>
      </p:sp>
      <p:pic>
        <p:nvPicPr>
          <p:cNvPr id="17" name="Image 2" descr="/tmp/claude-0/-home-user-fifth-zero-os-2/afa94588-cf5a-559d-99bb-33c12b162579/scratchpad/deck/assets/23-tile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424" y="3383280"/>
            <a:ext cx="1507160" cy="18839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81848" y="5340382"/>
            <a:ext cx="158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MOTION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9943871" y="421552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200" dirty="0"/>
          </a:p>
        </p:txBody>
      </p:sp>
      <p:pic>
        <p:nvPicPr>
          <p:cNvPr id="20" name="Image 3" descr="/tmp/claude-0/-home-user-fifth-zero-os-2/afa94588-cf5a-559d-99bb-33c12b162579/scratchpad/deck/assets/23-tile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1615" y="3383280"/>
            <a:ext cx="1507160" cy="18839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145039" y="5340382"/>
            <a:ext cx="158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FILM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47472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84048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DBFF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83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FIFTH &amp; ZERO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08615" y="2834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/ 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8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CREATIVE STUDIO · 03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6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+ TRADITIONAL CREATIVE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133856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AI accelerates production.</a:t>
            </a:r>
            <a:endParaRPr lang="en-US" sz="2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2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Creative direction keeps it human.</a:t>
            </a:r>
            <a:endParaRPr lang="en-US" sz="2200" dirty="0"/>
          </a:p>
        </p:txBody>
      </p:sp>
      <p:pic>
        <p:nvPicPr>
          <p:cNvPr id="10" name="Image 0" descr="/tmp/claude-0/-home-user-fifth-zero-os-2/afa94588-cf5a-559d-99bb-33c12b162579/scratchpad/deck/assets/24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921" y="2606040"/>
            <a:ext cx="9279854" cy="33832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42996" y="459028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IDEA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692973" y="459028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CONCEPTING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142950" y="459028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DIRECTION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592928" y="459028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DESIGN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042905" y="459028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MOTION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492882" y="459028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EDIT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9942859" y="459028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FINAL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CAMPAIGN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47472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F2F2F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84048"/>
            <a:ext cx="137160" cy="137160"/>
          </a:xfrm>
          <a:prstGeom prst="roundRect">
            <a:avLst>
              <a:gd name="adj" fmla="val 13333"/>
            </a:avLst>
          </a:prstGeom>
          <a:ln w="13970">
            <a:solidFill>
              <a:srgbClr val="DBFF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83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FIFTH &amp; ZERO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08615" y="2834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 / 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80" kern="0" dirty="0">
                <a:solidFill>
                  <a:srgbClr val="6F6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ONE CAMPAIGN — EVERYTHING CONNECTED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6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FULL ECOSYSTEM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133856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creative partner. The entire visual journey.</a:t>
            </a:r>
            <a:endParaRPr lang="en-US" sz="2200" dirty="0"/>
          </a:p>
        </p:txBody>
      </p:sp>
      <p:pic>
        <p:nvPicPr>
          <p:cNvPr id="10" name="Image 0" descr="/tmp/claude-0/-home-user-fifth-zero-os-2/afa94588-cf5a-559d-99bb-33c12b162579/scratchpad/deck/assets/25-full-eco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11668"/>
            <a:ext cx="6903720" cy="431482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269480" y="18745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KV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269480" y="21625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Poster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269480" y="24505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Social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269480" y="27386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Stage LED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269480" y="30266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Walk-through Screen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269480" y="33147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Skylight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269480" y="36027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Motion Graphics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9601200" y="18745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Teaser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9601200" y="21625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Countdown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9601200" y="24505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Opening Film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9601200" y="27386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Aftermovie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9601200" y="30266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Photography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9601200" y="33147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AI Content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269480" y="51663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MERIDIAN, one campaign — every deliverable in this deck, produced from a single creative direction.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fifth-zero-os-2/afa94588-cf5a-559d-99bb-33c12b162579/scratchpad/deck/assets/26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94680" y="2679192"/>
            <a:ext cx="201168" cy="201168"/>
          </a:xfrm>
          <a:prstGeom prst="roundRect">
            <a:avLst>
              <a:gd name="adj" fmla="val 13636"/>
            </a:avLst>
          </a:prstGeom>
          <a:ln w="17780">
            <a:solidFill>
              <a:srgbClr val="F2F2F0">
                <a:alpha val="4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963260" y="2734056"/>
            <a:ext cx="201168" cy="201168"/>
          </a:xfrm>
          <a:prstGeom prst="roundRect">
            <a:avLst>
              <a:gd name="adj" fmla="val 13636"/>
            </a:avLst>
          </a:prstGeom>
          <a:ln w="17780">
            <a:solidFill>
              <a:srgbClr val="F2F2F0">
                <a:alpha val="7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31840" y="2788920"/>
            <a:ext cx="201168" cy="201168"/>
          </a:xfrm>
          <a:prstGeom prst="roundRect">
            <a:avLst>
              <a:gd name="adj" fmla="val 13636"/>
            </a:avLst>
          </a:prstGeom>
          <a:ln w="17780">
            <a:solidFill>
              <a:srgbClr val="DBFF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3429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0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Let's make something</a:t>
            </a:r>
            <a:endParaRPr lang="en-US" sz="3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000" i="1" dirty="0">
                <a:solidFill>
                  <a:srgbClr val="F2F2F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worth remembering.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0" y="45262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DBFF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FIFTH &amp; ZERO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408615" y="3108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9A9A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 / 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Fifth and Zero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Fifth and Zero - Capabilities</dc:title>
  <dc:subject>PptxGenJS Presentation</dc:subject>
  <dc:creator>Fifth and Zero</dc:creator>
  <cp:lastModifiedBy>Fifth and Zero</cp:lastModifiedBy>
  <cp:revision>1</cp:revision>
  <dcterms:created xsi:type="dcterms:W3CDTF">2026-08-19T16:21:14Z</dcterms:created>
  <dcterms:modified xsi:type="dcterms:W3CDTF">2026-08-19T16:21:14Z</dcterms:modified>
</cp:coreProperties>
</file>